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190ac4f4624683" /><Relationship Type="http://schemas.openxmlformats.org/officeDocument/2006/relationships/extended-properties" Target="/docProps/app.xml" Id="Ra9f47f32332c447e" /><Relationship Type="http://schemas.openxmlformats.org/officeDocument/2006/relationships/officeDocument" Target="/ppt/presentation.xml" Id="R3a1c2e70e63542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00ca395ed4155"/>
  </p:sldMasterIdLst>
  <p:notesMasterIdLst>
    <p:notesMasterId xmlns:r="http://schemas.openxmlformats.org/officeDocument/2006/relationships" r:id="Rd075a64439b24589"/>
  </p:notesMasterIdLst>
  <p:sldIdLst>
    <p:sldId xmlns:r="http://schemas.openxmlformats.org/officeDocument/2006/relationships" id="256" r:id="Re7dabaeceea04cd8"/>
    <p:sldId xmlns:r="http://schemas.openxmlformats.org/officeDocument/2006/relationships" id="257" r:id="R085afc5e991b45a2"/>
    <p:sldId xmlns:r="http://schemas.openxmlformats.org/officeDocument/2006/relationships" id="258" r:id="R4de1496ec47a4f18"/>
    <p:sldId xmlns:r="http://schemas.openxmlformats.org/officeDocument/2006/relationships" id="259" r:id="Rd4d808f0bfc24d87"/>
    <p:sldId xmlns:r="http://schemas.openxmlformats.org/officeDocument/2006/relationships" id="260" r:id="R53aac7ef22344c77"/>
    <p:sldId xmlns:r="http://schemas.openxmlformats.org/officeDocument/2006/relationships" id="261" r:id="Rcd35bebe9e204154"/>
    <p:sldId xmlns:r="http://schemas.openxmlformats.org/officeDocument/2006/relationships" id="262" r:id="R26d50ef5dad8478c"/>
    <p:sldId xmlns:r="http://schemas.openxmlformats.org/officeDocument/2006/relationships" id="263" r:id="R2e9df0b659c64733"/>
    <p:sldId xmlns:r="http://schemas.openxmlformats.org/officeDocument/2006/relationships" id="264" r:id="R99f53ff3fe76454b"/>
    <p:sldId xmlns:r="http://schemas.openxmlformats.org/officeDocument/2006/relationships" id="265" r:id="R3343a22edbdc4c7e"/>
    <p:sldId xmlns:r="http://schemas.openxmlformats.org/officeDocument/2006/relationships" id="266" r:id="R2d31156245ef47db"/>
    <p:sldId xmlns:r="http://schemas.openxmlformats.org/officeDocument/2006/relationships" id="267" r:id="Rb6b730ea77024c5f"/>
    <p:sldId xmlns:r="http://schemas.openxmlformats.org/officeDocument/2006/relationships" id="268" r:id="R2acee824cdb44734"/>
    <p:sldId xmlns:r="http://schemas.openxmlformats.org/officeDocument/2006/relationships" id="269" r:id="R364ac757cb274031"/>
    <p:sldId xmlns:r="http://schemas.openxmlformats.org/officeDocument/2006/relationships" id="270" r:id="R3fd509fabe3444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7c65719ac44d71" /><Relationship Type="http://schemas.openxmlformats.org/officeDocument/2006/relationships/slideMaster" Target="/ppt/slideMasters/slideMaster1.xml" Id="R11e00ca395ed4155" /><Relationship Type="http://schemas.openxmlformats.org/officeDocument/2006/relationships/notesMaster" Target="/ppt/notesMasters/notesMaster1.xml" Id="Rd075a64439b24589" /><Relationship Type="http://schemas.openxmlformats.org/officeDocument/2006/relationships/presProps" Target="/ppt/presProps.xml" Id="Rbd9fd69725034d30" /><Relationship Type="http://schemas.openxmlformats.org/officeDocument/2006/relationships/tableStyles" Target="/ppt/tableStyles.xml" Id="R12bfe0275fbc4b58" /><Relationship Type="http://schemas.openxmlformats.org/officeDocument/2006/relationships/slide" Target="/ppt/slides/slide1.xml" Id="Re7dabaeceea04cd8" /><Relationship Type="http://schemas.openxmlformats.org/officeDocument/2006/relationships/slide" Target="/ppt/slides/slide2.xml" Id="R085afc5e991b45a2" /><Relationship Type="http://schemas.openxmlformats.org/officeDocument/2006/relationships/slide" Target="/ppt/slides/slide3.xml" Id="R4de1496ec47a4f18" /><Relationship Type="http://schemas.openxmlformats.org/officeDocument/2006/relationships/slide" Target="/ppt/slides/slide4.xml" Id="Rd4d808f0bfc24d87" /><Relationship Type="http://schemas.openxmlformats.org/officeDocument/2006/relationships/slide" Target="/ppt/slides/slide5.xml" Id="R53aac7ef22344c77" /><Relationship Type="http://schemas.openxmlformats.org/officeDocument/2006/relationships/slide" Target="/ppt/slides/slide6.xml" Id="Rcd35bebe9e204154" /><Relationship Type="http://schemas.openxmlformats.org/officeDocument/2006/relationships/slide" Target="/ppt/slides/slide7.xml" Id="R26d50ef5dad8478c" /><Relationship Type="http://schemas.openxmlformats.org/officeDocument/2006/relationships/slide" Target="/ppt/slides/slide8.xml" Id="R2e9df0b659c64733" /><Relationship Type="http://schemas.openxmlformats.org/officeDocument/2006/relationships/slide" Target="/ppt/slides/slide9.xml" Id="R99f53ff3fe76454b" /><Relationship Type="http://schemas.openxmlformats.org/officeDocument/2006/relationships/slide" Target="/ppt/slides/slide10.xml" Id="R3343a22edbdc4c7e" /><Relationship Type="http://schemas.openxmlformats.org/officeDocument/2006/relationships/slide" Target="/ppt/slides/slide11.xml" Id="R2d31156245ef47db" /><Relationship Type="http://schemas.openxmlformats.org/officeDocument/2006/relationships/slide" Target="/ppt/slides/slide12.xml" Id="Rb6b730ea77024c5f" /><Relationship Type="http://schemas.openxmlformats.org/officeDocument/2006/relationships/slide" Target="/ppt/slides/slide13.xml" Id="R2acee824cdb44734" /><Relationship Type="http://schemas.openxmlformats.org/officeDocument/2006/relationships/slide" Target="/ppt/slides/slide14.xml" Id="R364ac757cb274031" /><Relationship Type="http://schemas.openxmlformats.org/officeDocument/2006/relationships/slide" Target="/ppt/slides/slide15.xml" Id="R3fd509fabe3444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8389ff76e445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4fc69fd0c84260" /><Relationship Type="http://schemas.openxmlformats.org/officeDocument/2006/relationships/notesMaster" Target="/ppt/notesMasters/notesMaster1.xml" Id="R0241f39bc2c543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8e1d8ce114864" /><Relationship Type="http://schemas.openxmlformats.org/officeDocument/2006/relationships/notesMaster" Target="/ppt/notesMasters/notesMaster1.xml" Id="R0414377c406447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c1011b6a714595" /><Relationship Type="http://schemas.openxmlformats.org/officeDocument/2006/relationships/notesMaster" Target="/ppt/notesMasters/notesMaster1.xml" Id="Rdd7efa91a3dc40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64aab116e94f5c" /><Relationship Type="http://schemas.openxmlformats.org/officeDocument/2006/relationships/notesMaster" Target="/ppt/notesMasters/notesMaster1.xml" Id="R051789d5aac44d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9462361ae74dde" /><Relationship Type="http://schemas.openxmlformats.org/officeDocument/2006/relationships/notesMaster" Target="/ppt/notesMasters/notesMaster1.xml" Id="R8d1c1f9741a245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1acfce9b4e4a00" /><Relationship Type="http://schemas.openxmlformats.org/officeDocument/2006/relationships/notesMaster" Target="/ppt/notesMasters/notesMaster1.xml" Id="Ra0b1a557de7947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c0ca5db1174eaa" /><Relationship Type="http://schemas.openxmlformats.org/officeDocument/2006/relationships/notesMaster" Target="/ppt/notesMasters/notesMaster1.xml" Id="Rdcf35cd073cd43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8b7bcc97b74ef4" /><Relationship Type="http://schemas.openxmlformats.org/officeDocument/2006/relationships/notesMaster" Target="/ppt/notesMasters/notesMaster1.xml" Id="R3a9cc967a05d4b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cf95ddc1e34806" /><Relationship Type="http://schemas.openxmlformats.org/officeDocument/2006/relationships/notesMaster" Target="/ppt/notesMasters/notesMaster1.xml" Id="R73f8181377404f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9a9e8b50694695" /><Relationship Type="http://schemas.openxmlformats.org/officeDocument/2006/relationships/notesMaster" Target="/ppt/notesMasters/notesMaster1.xml" Id="Rb4f8af84aaba4d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6bd91e717743c4" /><Relationship Type="http://schemas.openxmlformats.org/officeDocument/2006/relationships/notesMaster" Target="/ppt/notesMasters/notesMaster1.xml" Id="R821d79afc9aa41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57898f68694471" /><Relationship Type="http://schemas.openxmlformats.org/officeDocument/2006/relationships/notesMaster" Target="/ppt/notesMasters/notesMaster1.xml" Id="Rccb12c259fb940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b10c86647f4e8c" /><Relationship Type="http://schemas.openxmlformats.org/officeDocument/2006/relationships/notesMaster" Target="/ppt/notesMasters/notesMaster1.xml" Id="Rab35043cf4b747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139cb442874978" /><Relationship Type="http://schemas.openxmlformats.org/officeDocument/2006/relationships/notesMaster" Target="/ppt/notesMasters/notesMaster1.xml" Id="R69cbc170f4e845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b1275f04024546" /><Relationship Type="http://schemas.openxmlformats.org/officeDocument/2006/relationships/notesMaster" Target="/ppt/notesMasters/notesMaster1.xml" Id="Rb8f2e640f86b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项目提供的天枢 Windows 客户端截图</a:t>
            </a:r>
          </a:p>
          <a:p xmlns:a="http://schemas.openxmlformats.org/drawingml/2006/main">
            <a:r>
              <a:t>- 项目融资材料与产品实现说明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项目产品定位与竞品分析（项目方提供）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项目提供的天枢 Windows 客户端截图</a:t>
            </a:r>
          </a:p>
          <a:p xmlns:a="http://schemas.openxmlformats.org/drawingml/2006/main">
            <a:r>
              <a:t>- 项目代码与 MVP 功能清单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项目提供的长任务计划—执行—校验截图</a:t>
            </a:r>
          </a:p>
          <a:p xmlns:a="http://schemas.openxmlformats.org/drawingml/2006/main">
            <a:r>
              <a:t>- 项目执行运行时设计说明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项目价值主张与商业模式设计（项目方提供）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项目提供的 character assets GIF；PPT 使用各 GIF 的首帧以保证兼容性</a:t>
            </a:r>
          </a:p>
          <a:p xmlns:a="http://schemas.openxmlformats.org/drawingml/2006/main">
            <a:r>
              <a:t>- 项目多 Asset 与动作状态实现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角色生成价格为项目方当前商业化假设：六状态动态包 19 元，高级定制 49 元起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项目平台交易与创作者分成假设：平台标准抽成 20%，创作者 80%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OpenCode Go 官方页面（访问于 2026-08-11）：https://opencode.ai/go</a:t>
            </a:r>
          </a:p>
          <a:p xmlns:a="http://schemas.openxmlformats.org/drawingml/2006/main">
            <a:r>
              <a:t>- 项目方商业模式与建议定价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Character.AI c.ai+ 官方订阅页（访问于 2026-08-11）：https://character.ai/subscribe</a:t>
            </a:r>
          </a:p>
          <a:p xmlns:a="http://schemas.openxmlformats.org/drawingml/2006/main">
            <a:r>
              <a:t>- Kindroid 官方订阅说明（更新于 2026-07-07）：https://kindroid.ai/docs/article/subscriptions/</a:t>
            </a:r>
          </a:p>
          <a:p xmlns:a="http://schemas.openxmlformats.org/drawingml/2006/main">
            <a:r>
              <a:t>- Codex Dream Skin GitHub：https://github.com/Fei-Away/Codex-Dream-Skin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项目提供的 MCP 接入截图</a:t>
            </a:r>
          </a:p>
          <a:p xmlns:a="http://schemas.openxmlformats.org/drawingml/2006/main">
            <a:r>
              <a:t>- 项目开放适配与本地优先架构说明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项目方 18 个月产品与商业化路线图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项目方保守财务模型：月 ARPU 89 元，年化 1,068 元</a:t>
            </a:r>
          </a:p>
          <a:p xmlns:a="http://schemas.openxmlformats.org/drawingml/2006/main">
            <a:r>
              <a:t>- 期末付费个人用户假设：1,000 / 5,000 / 15,000；平均付费用户：500 / 3,000 / 10,000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项目方本轮融资需求与 18 个月商业化目标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项目价值主张与商业闭环总结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e6ef22f974c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073a8f4c9f4ecf" /><Relationship Type="http://schemas.openxmlformats.org/officeDocument/2006/relationships/slideLayout" Target="/ppt/slideLayouts/slideLayout1.xml" Id="R976b031c54a241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6b031c54a241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1ba981ffa4032" /><Relationship Type="http://schemas.openxmlformats.org/officeDocument/2006/relationships/image" Target="/ppt/media/image.png" Id="R5af985ac4c91481a" /><Relationship Type="http://schemas.openxmlformats.org/officeDocument/2006/relationships/notesSlide" Target="/ppt/notesSlides/notesSlide1.xml" Id="R0bce8434158841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2c6e8ca9c4679" /><Relationship Type="http://schemas.openxmlformats.org/officeDocument/2006/relationships/notesSlide" Target="/ppt/notesSlides/notesSlide2.xml" Id="Rdad2492ce57346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2878b07cf4997" /><Relationship Type="http://schemas.openxmlformats.org/officeDocument/2006/relationships/image" Target="/ppt/media/image2.png" Id="R7902bb9710724917" /><Relationship Type="http://schemas.openxmlformats.org/officeDocument/2006/relationships/notesSlide" Target="/ppt/notesSlides/notesSlide3.xml" Id="Rbafd2cf7327f48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29e9dc55540c1" /><Relationship Type="http://schemas.openxmlformats.org/officeDocument/2006/relationships/image" Target="/ppt/media/image3.png" Id="R613bc0a4fd0e4248" /><Relationship Type="http://schemas.openxmlformats.org/officeDocument/2006/relationships/notesSlide" Target="/ppt/notesSlides/notesSlide4.xml" Id="R37bead683d354f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3e716db0b42be" /><Relationship Type="http://schemas.openxmlformats.org/officeDocument/2006/relationships/notesSlide" Target="/ppt/notesSlides/notesSlide5.xml" Id="R5db1f69a7a6547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24acca9944be9" /><Relationship Type="http://schemas.openxmlformats.org/officeDocument/2006/relationships/image" Target="/ppt/media/image4.png" Id="R8bbb1c801ff5400b" /><Relationship Type="http://schemas.openxmlformats.org/officeDocument/2006/relationships/image" Target="/ppt/media/image5.png" Id="R305af8488141428e" /><Relationship Type="http://schemas.openxmlformats.org/officeDocument/2006/relationships/image" Target="/ppt/media/image6.png" Id="R58d45792fbc148b0" /><Relationship Type="http://schemas.openxmlformats.org/officeDocument/2006/relationships/image" Target="/ppt/media/image7.png" Id="R4ba1ce0d1931485f" /><Relationship Type="http://schemas.openxmlformats.org/officeDocument/2006/relationships/image" Target="/ppt/media/image8.png" Id="Rdc763c81772b4d64" /><Relationship Type="http://schemas.openxmlformats.org/officeDocument/2006/relationships/image" Target="/ppt/media/image9.png" Id="Rb5b4a35365184a52" /><Relationship Type="http://schemas.openxmlformats.org/officeDocument/2006/relationships/notesSlide" Target="/ppt/notesSlides/notesSlide6.xml" Id="R5c40d9ae7fd242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57aad8f004849" /><Relationship Type="http://schemas.openxmlformats.org/officeDocument/2006/relationships/notesSlide" Target="/ppt/notesSlides/notesSlide7.xml" Id="R4999c40a73fb47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05fb9025d4be7" /><Relationship Type="http://schemas.openxmlformats.org/officeDocument/2006/relationships/notesSlide" Target="/ppt/notesSlides/notesSlide8.xml" Id="R8a131f9cb72448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9249c019a445e" /><Relationship Type="http://schemas.openxmlformats.org/officeDocument/2006/relationships/notesSlide" Target="/ppt/notesSlides/notesSlide9.xml" Id="R7fdfe0d008ea4e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f0b8cc6ed473a" /><Relationship Type="http://schemas.openxmlformats.org/officeDocument/2006/relationships/notesSlide" Target="/ppt/notesSlides/notesSlide10.xml" Id="R47b9c343f4894a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917272c164fff" /><Relationship Type="http://schemas.openxmlformats.org/officeDocument/2006/relationships/image" Target="/ppt/media/image10.png" Id="R3b431262139a4196" /><Relationship Type="http://schemas.openxmlformats.org/officeDocument/2006/relationships/notesSlide" Target="/ppt/notesSlides/notesSlide11.xml" Id="Re97eacbd356e49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7d27ab52b4a0e" /><Relationship Type="http://schemas.openxmlformats.org/officeDocument/2006/relationships/notesSlide" Target="/ppt/notesSlides/notesSlide12.xml" Id="R3823c40329ca48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f3faf1aab411d" /><Relationship Type="http://schemas.openxmlformats.org/officeDocument/2006/relationships/chart" Target="/ppt/slides/charts/chart1.xml" Id="R578bd1ae48fb4709" /><Relationship Type="http://schemas.openxmlformats.org/officeDocument/2006/relationships/notesSlide" Target="/ppt/notesSlides/notesSlide13.xml" Id="R58e9a3d66b0941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af9792bc8441a" /><Relationship Type="http://schemas.openxmlformats.org/officeDocument/2006/relationships/notesSlide" Target="/ppt/notesSlides/notesSlide14.xml" Id="R55b37dbc2e0a4f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f020a1afc476a" /><Relationship Type="http://schemas.openxmlformats.org/officeDocument/2006/relationships/notesSlide" Target="/ppt/notesSlides/notesSlide15.xml" Id="R5432adb35491404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模型订阅收入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第 1 年</c:v>
              </c:pt>
              <c:pt idx="1">
                <c:v>第 2 年</c:v>
              </c:pt>
              <c:pt idx="2">
                <c:v>第 3 年</c:v>
              </c:pt>
            </c:strLit>
          </c:cat>
          <c:val>
            <c:numLit>
              <c:formatCode>General</c:formatCode>
              <c:ptCount val="3"/>
              <c:pt idx="0">
                <c:v>35.4</c:v>
              </c:pt>
              <c:pt idx="1">
                <c:v>212.4</c:v>
              </c:pt>
              <c:pt idx="2">
                <c:v>708</c:v>
              </c:pt>
            </c:numLit>
          </c:val>
        </c:ser>
        <c:ser>
          <c:idx val="1"/>
          <c:order val="1"/>
          <c:tx>
            <c:v>皮肤消费收入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第 1 年</c:v>
              </c:pt>
              <c:pt idx="1">
                <c:v>第 2 年</c:v>
              </c:pt>
              <c:pt idx="2">
                <c:v>第 3 年</c:v>
              </c:pt>
            </c:strLit>
          </c:cat>
          <c:val>
            <c:numLit>
              <c:formatCode>General</c:formatCode>
              <c:ptCount val="3"/>
              <c:pt idx="0">
                <c:v>18</c:v>
              </c:pt>
              <c:pt idx="1">
                <c:v>108</c:v>
              </c:pt>
              <c:pt idx="2">
                <c:v>360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318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31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4F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万元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656F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0656F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89F63-B6C0-4497-A400-CD729F50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TIANSHU ·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3D5AE-2530-4418-A7DF-20829B4A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381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让能干活的 Agent，</a:t>
            </a:r>
          </a:p>
          <a:p xmlns:a="http://schemas.openxmlformats.org/drawingml/2006/main">
            <a:pPr algn="l">
              <a:defRPr sz="36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成为用户愿意长期拥有的角色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9A87C-83A8-435A-9C77-6FCD3E9D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天枢 AI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33E08-7549-432E-823D-FC28AA6F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Windows 桌面端 MVP 已完成 · 融资商业计划书 · 2026.08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9CBF7-7EB6-4E5B-AD62-EE6ED003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"/>
            <a:ext cx="5600700" cy="5638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985ac4c91481a"/>
          <a:stretch xmlns:a="http://schemas.openxmlformats.org/drawingml/2006/main"/>
        </p:blipFill>
        <p:spPr>
          <a:xfrm xmlns:a="http://schemas.openxmlformats.org/drawingml/2006/main">
            <a:off x="6381750" y="1482680"/>
            <a:ext cx="5219700" cy="3397340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</p:spTree>
    <p:extLst>
      <p:ext uri="{BB962C8B-B14F-4D97-AF65-F5344CB8AC3E}">
        <p14:creationId xmlns:p14="http://schemas.microsoft.com/office/powerpoint/2010/main" val="19214556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6983D-0BC0-4DC1-83D9-9DEFA88D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INVESTMENT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D619E-FE4E-41F6-9B10-81BC7596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502DF-CA10-417D-938B-896E65C8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现有产品各自只解决一半问题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F34BB-645D-4B0A-B3D1-7B117EF3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天枢把可靠执行与角色资产放进同一个本地工作环境。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F4EA2-B3D6-4220-9C0B-1B4DC981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生产力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5437D-B1C5-4200-952A-E7F81C30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能调用工具、写代码、处理文件</a:t>
            </a:r>
          </a:p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但缺少长期关系、视觉资产与情绪消费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47C2A-6315-40F4-9B3A-D0833A99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552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1FD41-645C-429E-9AB5-E7D483FB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结果价值强，拥有感弱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00866-4776-477C-A6C0-C43BFFA2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陪伴型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2D562-8400-4DE1-A8D1-4E7ACF34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有人格、记忆与形象</a:t>
            </a:r>
          </a:p>
          <a:p xmlns:a="http://schemas.openxmlformats.org/drawingml/2006/main">
            <a:pPr algn="l">
              <a:defRPr sz="16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但不能稳定完成真实工作任务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766C7-6227-4D49-A4CA-ABD8CFD1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5524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A9795-1321-4CF9-B66D-F8CDE527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情绪价值强，任务能力弱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27ED8-F6B1-4D6E-BEFC-90736679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天枢 = 可恢复的 Agent 运行时 + 可运营的角色资产</a:t>
            </a:r>
          </a:p>
        </p:txBody>
      </p:sp>
    </p:spTree>
    <p:extLst>
      <p:ext uri="{BB962C8B-B14F-4D97-AF65-F5344CB8AC3E}">
        <p14:creationId xmlns:p14="http://schemas.microsoft.com/office/powerpoint/2010/main" val="1222178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BBC95-0E9F-49DD-8817-4A55156B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PRODUCT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1D512-EF2B-4119-B863-7648237A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BF489-1F88-489F-A9D6-774AC57E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MVP 已经是可安装、可运行的 Windows 产品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BA811-C9AA-43A4-A846-2478FAAE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会话、角色、模型、执行模式、审批与项目目录被统一到一个桌面工作环境。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2bb9710724917"/>
          <a:stretch xmlns:a="http://schemas.openxmlformats.org/drawingml/2006/main"/>
        </p:blipFill>
        <p:spPr>
          <a:xfrm xmlns:a="http://schemas.openxmlformats.org/drawingml/2006/main">
            <a:off x="1237903" y="2038350"/>
            <a:ext cx="6058594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10630-543C-4772-9F7C-E63C1F68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6C83E-0F82-4D1C-826F-57987A92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26D85-23C5-4568-AD6C-36BBE78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EXE 安装包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8E832-7A47-467A-807F-1E3E840E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766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D330D-A8CB-4104-B2C2-A4054BB8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多模型与 MCP 接入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A1B1D-BAA4-4151-A5EA-7F0708DD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B2901-721E-49BA-BCA3-FF2C031F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Goal / Plan / RunEvent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CC1AC-77CD-485A-A604-1A696099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B4F61-046A-4FC4-9497-19BF533D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审批、恢复与事件系统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5AB49-DA10-41B2-B801-3ADACF87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D1E41-18C3-44F3-A6A9-67AC7738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33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角色版本与多 Asset</a:t>
            </a:r>
          </a:p>
        </p:txBody>
      </p:sp>
    </p:spTree>
    <p:extLst>
      <p:ext uri="{BB962C8B-B14F-4D97-AF65-F5344CB8AC3E}">
        <p14:creationId xmlns:p14="http://schemas.microsoft.com/office/powerpoint/2010/main" val="2099411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02139-214F-4AF3-9BC4-35CF07D3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EXECUTION MOAT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0E1F6-65DF-4247-BBC1-9C47B3CC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0A81E-3F80-47B4-B93F-D247698D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差异不在“能回答”，而在“能持续完成”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84B7D-D5B8-4807-8432-A0E24B0E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长任务先形成计划，再逐步执行；每一步都保留条件、状态与结果证据。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bc0a4fd0e4248"/>
          <a:stretch xmlns:a="http://schemas.openxmlformats.org/drawingml/2006/main"/>
        </p:blipFill>
        <p:spPr>
          <a:xfrm xmlns:a="http://schemas.openxmlformats.org/drawingml/2006/main">
            <a:off x="1059957" y="2000250"/>
            <a:ext cx="6204936" cy="4038600"/>
          </a:xfrm>
          <a:prstGeom xmlns:a="http://schemas.openxmlformats.org/drawingml/2006/main" prst="roundRect">
            <a:avLst>
              <a:gd name="adj" fmla="val 283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52818-11C1-44FD-830E-A471AEC5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F776D-7782-48B0-B333-0E0633F6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15CAA-2270-46B7-AB54-317FBE56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把目标拆成可验证步骤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9726A-70F7-45D5-A78E-6F8DF4D1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ED740-581D-4E19-BAD9-2A8AF1B1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99434-0580-4273-B8D1-722B5738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195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持久记录状态与工具结果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105F9-10E8-4841-B7C2-A3723506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284BF-9AC6-4FB3-9F75-E4ED3A47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67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EDCBE-6DBD-40E2-90DE-0A92213C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证据门禁减少“看似完成”</a:t>
            </a:r>
          </a:p>
        </p:txBody>
      </p:sp>
    </p:spTree>
    <p:extLst>
      <p:ext uri="{BB962C8B-B14F-4D97-AF65-F5344CB8AC3E}">
        <p14:creationId xmlns:p14="http://schemas.microsoft.com/office/powerpoint/2010/main" val="14381988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CE4A3-258D-427C-9B19-F8A14B0E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DUAL VALUE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B5BFB-BA68-47C5-9507-E7AD420B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AFB70-1DE5-4EEA-A172-F54548DC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同一个角色同时产生结果价值与情绪价值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74868-C08C-439C-AB46-EC27D3BC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共享角色、记忆、模型和工具基础设施，却形成两类付费动机。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EA8AD-F725-44F0-BBAB-5D3C4D5B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DB512-7F28-4A10-B3E9-AD6CE89C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完成任务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DFBF3-E660-4F74-823F-584EDC57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研究、文件、代码、运营与自动报告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用户为可靠结果付费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71D53-C406-41C6-BE4D-940CA61C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A3C83-766A-438D-87BA-1A3CF472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降低门槛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54D8E-8837-4DBF-8805-90B3C8E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专业技能角色包把复杂配置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变成一键购买的生产力商品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DB8D2-0107-41D0-97F0-9F7721D1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A3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A993A-FB2C-406D-9244-8D4E3A8D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长期拥有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54339-F4F5-4781-BB78-C5420BD9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人格、记忆、形象与动作形成关系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用户为喜欢的角色与空间付费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1FDF3-2D2C-45C2-A672-4F3BF02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A3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F92F2-0F37-4914-BBA4-99B2890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624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持续表达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B682A-C50D-4DE5-AC4D-2F49B085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38700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换肤、主题、限定内容与 IP 联动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推动复购与分享传播</a:t>
            </a:r>
          </a:p>
        </p:txBody>
      </p:sp>
    </p:spTree>
    <p:extLst>
      <p:ext uri="{BB962C8B-B14F-4D97-AF65-F5344CB8AC3E}">
        <p14:creationId xmlns:p14="http://schemas.microsoft.com/office/powerpoint/2010/main" val="7977215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9775A-75C4-48A9-BA61-AC9FFBA1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AGENT ASSET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B5655-959E-4B67-9A75-908E1F2E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192B9-0259-40BF-AC28-5CF0BD95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角色不是提示词，而是一套可运营的多状态资产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22CFF-494C-40A2-84D2-662B04BF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现有多 Asset 容器让生成内容直接成为可安装、可使用、可交易的角色商品。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b1c801ff5400b"/>
          <a:srcRect xmlns:a="http://schemas.openxmlformats.org/drawingml/2006/main" l="8273" t="0" r="8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2057400"/>
            <a:ext cx="1657350" cy="2647950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7AAFD-0B9D-4AE4-AEF2-DD807F77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交谈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af8488141428e"/>
          <a:srcRect xmlns:a="http://schemas.openxmlformats.org/drawingml/2006/main" l="8273" t="0" r="8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4575" y="2057400"/>
            <a:ext cx="1657350" cy="2647950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4356C-1B13-4EF5-9F55-5E4E4242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857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呼吸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45792fbc148b0"/>
          <a:srcRect xmlns:a="http://schemas.openxmlformats.org/drawingml/2006/main" l="8273" t="0" r="8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29100" y="2057400"/>
            <a:ext cx="1657350" cy="2647950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0E92F-9CBE-4F32-BDC3-531EE6C3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57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查询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1ce0d1931485f"/>
          <a:srcRect xmlns:a="http://schemas.openxmlformats.org/drawingml/2006/main" l="8273" t="0" r="8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3625" y="2057400"/>
            <a:ext cx="1657350" cy="2647950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4550E-7768-4B53-9ED5-3DBCF287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57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工作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63c81772b4d64"/>
          <a:srcRect xmlns:a="http://schemas.openxmlformats.org/drawingml/2006/main" l="8273" t="0" r="8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2057400"/>
            <a:ext cx="1657350" cy="2647950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10BCD-B600-463E-A748-5E4EB339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57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4a35365184a52"/>
          <a:srcRect xmlns:a="http://schemas.openxmlformats.org/drawingml/2006/main" l="8273" t="0" r="82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2675" y="2057400"/>
            <a:ext cx="1657350" cy="2647950"/>
          </a:xfrm>
          <a:prstGeom xmlns:a="http://schemas.openxmlformats.org/drawingml/2006/main" prst="roundRect">
            <a:avLst>
              <a:gd name="adj" fmla="val 689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E5A48-9A26-4823-BF22-EE7378BE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85775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B8D1D-CB34-440B-8929-263D55A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角色状态与 Agent Run 状态绑定：不是装饰，而是执行过程的可视化反馈。</a:t>
            </a:r>
          </a:p>
        </p:txBody>
      </p:sp>
    </p:spTree>
    <p:extLst>
      <p:ext uri="{BB962C8B-B14F-4D97-AF65-F5344CB8AC3E}">
        <p14:creationId xmlns:p14="http://schemas.microsoft.com/office/powerpoint/2010/main" val="12888618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0629B-F9A6-4E91-A4E9-F5404E2B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ROLE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94967-F7A2-4031-B76D-735BCC9C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81AE3-3D33-4219-8BF3-EF102733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角色生成把模型调用转化为数字商品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4CDC0-CB1A-495B-9008-CF0D38C2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文生图设计形象，图生视频生成六种动作，自动打包为可交易角色。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5CE73-9EA5-4A9C-8450-03BAEC37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562350" cy="39624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3624F-2E36-43D1-A257-EA2C193F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模型订阅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E7208-DD9D-4DCE-9069-B48ACE8C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更强模型、更高额度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构成基础现金流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3EDEC-CC00-405F-BCE1-71AF9980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建议定价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FB8A3-A9DA-40C3-A15A-A0DC4B86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59 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EBB29-B57A-4ECD-A5D0-6939A382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578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/ 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B6359-4AAB-4378-9DC3-DBE105CA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3562350" cy="39624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610D9-A37C-46A3-BD2D-4057A0AD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812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六状态动态角色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8A8EE-67A1-483A-98A2-8549E567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28950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交谈、呼吸、查询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工作、成功、异常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F4BA2-6DA7-4109-B7BF-4B2E1417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建议定价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39DF3-40AE-40E6-8250-7080244C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105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19 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2DEC1-47CD-46B7-A638-4C5E78F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578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/ 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AE13C-9ED5-4E6C-BE81-F708A581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3562350" cy="39624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F440D-6019-4484-AE5A-E3019FF5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高级定制 / 商用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9903E-EB5A-4A11-A324-A551E14C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3067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品牌化设计、专属动作</a:t>
            </a:r>
          </a:p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与商用授权支持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16792-E3DD-41B5-B26E-69DF56A3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建议定价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E0431-C39D-420E-BEE7-C06F54C8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05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49 元起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B0AB8-BB53-434B-BDB5-D7C32A20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578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213349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031C1-8B90-400F-94A1-3AA4B40E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CREATOR MARKETPLACE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A46EB-92D0-4B7D-A285-D43C2FD2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A04EA-71BD-4470-9E00-FCE29C77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每个用户既是买家，也可能成为角色创作者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4F213-8097-4FDD-9365-F5F12BB3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生成—使用—上架—交易形成比单次模型订阅更长的收入链。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047750" y="32766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ED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9446A-421E-4664-BBF2-17E95259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1907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8DAB9-DD03-467E-AB6E-F123F601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48826-71DE-4BC7-BEE4-1EB35768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免费工具获客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12F29-861F-4E0B-B569-68C882A4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降低首次使用门槛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D9B5E-36EA-4E33-89A6-7C043298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21907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00BE1-6208-4710-807C-69DFB661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1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C4173-994A-4D7E-BBB6-0C7ECA71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1465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付费生成角色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339A0-B580-49C9-94FD-3257E40F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6385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19 / 49 元价格带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DDD89-3221-4512-B485-80597204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21907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3A48D-1B4F-4EBB-B2CD-FB425EF2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19883-7936-4EB8-B475-E6DCB876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自用或上架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AF796-DCFA-4557-A22A-483DA7A7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角色、技能、皮肤、场景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BBD32-E694-4CF5-B2C5-A66389F3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05050"/>
            <a:ext cx="21907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AE1FB-F276-480C-80CB-1C153FEA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1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D28D7-4C82-432C-B848-F18995B7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1465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交易持续分成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FF3B3-FF96-4636-969F-DC4FB8F0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638550"/>
            <a:ext cx="176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创作者 80% · 平台 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C6E4D-31A7-409E-A480-785B9F8D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平台提供分发、支付、安全、审核与评价；内容供给反过来降低获客成本。</a:t>
            </a:r>
          </a:p>
        </p:txBody>
      </p:sp>
    </p:spTree>
    <p:extLst>
      <p:ext uri="{BB962C8B-B14F-4D97-AF65-F5344CB8AC3E}">
        <p14:creationId xmlns:p14="http://schemas.microsoft.com/office/powerpoint/2010/main" val="15983471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4DDDBA-7F57-42F0-A276-14D7DF80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B6682-4908-4E75-8EDB-D7490AFE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6EC60-E126-4C87-A96E-1D5ACEE2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OpenCode 验证模型订阅，天枢继续延伸角色经济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71CC1-0FFF-409C-8CD1-3189720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免费工具获客之后，同一用户可以订阅模型、购买生成、消费内容并参与交易。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E8F3E-52F6-4142-A5E9-DB18A165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收入层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1DB6C-2A3C-4A6D-AA4E-D8C24E72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19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产品形态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F4A06-71AA-477A-957E-9B8C493C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19300"/>
            <a:ext cx="1971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定价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325D9-8072-4680-A316-4093FA62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19300"/>
            <a:ext cx="4314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C64F8-6473-4916-BD9B-6B430BDB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5F45B-0F8C-442A-BA89-FB6AA4F6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流量层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CA8DA-94CD-4340-93D4-836B6E5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免费工具与免费模型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D2735-4B4C-4DC0-B57F-6B0EF16C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5745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免费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542DD-859F-4195-9739-C540FE96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431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搜索、社区、分享与口碑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B6F96-8D3B-4273-9DC6-89DD425A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收入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ED98F-AE38-4C1F-8516-4F8FD0F3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8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官方模型订阅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5CFDF-239C-4EA7-ABC6-7D91431A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59–99 元/月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88649-7478-4E56-9C93-3D00CA1C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48000"/>
            <a:ext cx="431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更强模型、额度与稳定服务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240E8-F31E-4FA2-A262-B580B55F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CAE01-CE36-4FFB-B70B-331E673A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收入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619D9-1685-41CA-B78C-DA24B35F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38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角色生成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D71E1-33F0-449A-B11E-A524596A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19 元 / 49 元起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ECFE7-6C9E-4129-8E7B-843C8388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431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文生图 + 图生视频 + 自动打包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45216-0493-44AB-B165-BB917ED0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收入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98FF9-6349-4452-BDA5-D276EC0B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291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官方技能 / 角色包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7C31D-63E7-45D7-B915-ADDED009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29–299 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ADB9D-8255-418E-9B58-72291734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29100"/>
            <a:ext cx="431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直接交付专业任务结果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463A12-5B6F-48F9-96D8-C1B98521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D02EB-3861-43F1-8CE8-9E348639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收入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49944E-828E-49BB-90FE-855D80E6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19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创作者 Marketplace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9E7FF1-00E6-4BD0-960F-99D1B5ED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1965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平台抽成 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642642-FA5A-46EA-B101-4F40578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19650"/>
            <a:ext cx="431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用户上架，平台持续分成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B76D5-BBA1-4944-8887-92273195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10200"/>
            <a:ext cx="110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增量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1A31AC-B687-4108-BD5D-044E43DB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102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皮肤、IP、Team / 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C4D36-C87F-4329-9663-DF7ACD9F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10200"/>
            <a:ext cx="1971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消费 / 席位 / 授权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47531A-7848-4A7A-AE5F-39E2F6A7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410200"/>
            <a:ext cx="4314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复购、组织治理与行业渠道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B1945B-C04C-44DF-BD9D-16AB7565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OpenCode Go：首月 5 美元，之后 10 美元/月，验证“免费工具 → 模型订阅”。</a:t>
            </a:r>
          </a:p>
        </p:txBody>
      </p:sp>
    </p:spTree>
    <p:extLst>
      <p:ext uri="{BB962C8B-B14F-4D97-AF65-F5344CB8AC3E}">
        <p14:creationId xmlns:p14="http://schemas.microsoft.com/office/powerpoint/2010/main" val="540111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7DBEB-E4F6-4523-8BB7-F22106B1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MARKET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2D0D4-98BC-443E-B91D-C6E9F67A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98847-437F-4273-9DC8-88C2091E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情绪价值已经被独立付费验证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3063F-CB0D-4CCA-BD1A-B172278B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陪伴、记忆、语音、形象与换肤并非附属功能，而是成熟的消费动机。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FBF3D-CC3C-4EE4-8DE9-EBEA4ACE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C9ED1-B43B-44A8-B431-03AE94FF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Character.AI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33718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CE1C9-C8E7-4418-A812-9F1692D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c.ai+ 将更强模型、记忆、语音与聊天定制纳入订阅。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8C8CD-554C-4166-812C-CD6E907A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77480-8BBC-4BBC-9864-D3ADB418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Kindroid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305300" y="33718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6BA07-489B-42DC-B0D4-3ED7A9E9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订阅覆盖长期记忆、语音、视频头像与自拍等角色体验。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F66B0-6B41-44E5-954D-14FC3567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C9D2F-4E38-477F-8A4A-1DF7255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Codex Dream Skin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8210550" y="33718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ED6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46669-5AE6-4589-AEB3-4A671E6A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主题库、在线 Studio 与社区投稿证明工具换肤可传播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E6E77-954A-4EE3-AF53-8AB420D8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天枢的不同：情绪资产与真实任务执行共享同一个角色。</a:t>
            </a:r>
          </a:p>
        </p:txBody>
      </p:sp>
    </p:spTree>
    <p:extLst>
      <p:ext uri="{BB962C8B-B14F-4D97-AF65-F5344CB8AC3E}">
        <p14:creationId xmlns:p14="http://schemas.microsoft.com/office/powerpoint/2010/main" val="12093368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5F84E-CC9C-47CC-9D3F-F1C20A82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TECHNOLOGY MOAT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B3EFA-232C-45B1-8B22-99DF2A26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80863-06E8-4A05-828B-3F1571EE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开放适配降低切换成本，把价值留在编排层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B38E7-7AF6-4053-96DB-64086C39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用户可扫描并一键导入 OpenCode、Claude、Cursor 等主流工具的现有 MCP 配置。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31262139a4196"/>
          <a:stretch xmlns:a="http://schemas.openxmlformats.org/drawingml/2006/main"/>
        </p:blipFill>
        <p:spPr>
          <a:xfrm xmlns:a="http://schemas.openxmlformats.org/drawingml/2006/main">
            <a:off x="956569" y="2038350"/>
            <a:ext cx="6087862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324CB-71C6-46DB-BC2D-E4B43D98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4238B-A80B-45F3-ABC2-D55A011F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多模型 Provider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E6F83-51C6-4830-9DCA-EFA1E7C8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AF502-D752-49BE-8250-00610EB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71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MCP 服务管理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4ABB9-7489-4E0B-95C6-7430C58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F84EC-BDC2-4DCC-AC6E-98610921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技能与角色工具解析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152C9-DC41-4552-B34E-FBE99D50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5431B-DF5A-4888-87C3-51DC93A2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本地工作区与审批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81AC0-7422-4239-B348-12BAADB5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8FE2E-4E4B-458E-A1C4-13531994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避免模型与工具锁定</a:t>
            </a:r>
          </a:p>
        </p:txBody>
      </p:sp>
    </p:spTree>
    <p:extLst>
      <p:ext uri="{BB962C8B-B14F-4D97-AF65-F5344CB8AC3E}">
        <p14:creationId xmlns:p14="http://schemas.microsoft.com/office/powerpoint/2010/main" val="6204592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45668-926B-4E9E-B0A5-2A1C2502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68EC4-564E-4F4E-84FF-23477B81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AF749-F2C8-4FC7-944E-DB04AC8A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18 个月完成付费、市场与生态三次跃迁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621D6-3011-4779-BD0D-0972C3E1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生成能力和交易市场按阶段验证，避免一次性承担全部平台风险。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66750" y="34290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9D22B-9DDF-4617-BE19-A7FB1F59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36D1B-E177-4C01-B2E9-7B491D4A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M0–M3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E8FA9-D75B-4A0F-80E2-397E7773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DE378-B31F-4185-8D8C-F1F5CF92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安装升级、崩溃恢复</a:t>
            </a:r>
          </a:p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真实 Provider E2E</a:t>
            </a:r>
          </a:p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3 个设计伙伴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A4D28-36C5-4A76-92BD-3E9071F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52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6A46C-246F-4AB5-BB98-480CBCD3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M4–M6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AFFCC-3003-4D3C-B8E0-786BC1C3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付费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50DDC-2195-4573-A7EF-FE414009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2435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模型订阅</a:t>
            </a:r>
          </a:p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文生图角色生成 Beta</a:t>
            </a:r>
          </a:p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验证 19 / 49 元价格带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4F671-7A87-482B-8E86-9237F4F0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95217-7925-4F94-88BB-2C6D92E0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M7–M12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03320-A9B5-4311-9D8D-FB04D8CE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市场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099F9-89B3-4E64-AD71-3A023169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图生视频与动态打包</a:t>
            </a:r>
          </a:p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用户角色上架</a:t>
            </a:r>
          </a:p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平台 20% 抽成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FFEE5-DBEF-4DCE-9361-E6E8A8B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52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BA1A7-59AC-4AB0-BAB4-80EE6C6A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M13–M18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D61BC-A62D-4B56-9732-6FE20852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生态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E37AD-98E5-425D-8CD5-9914AE5A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2435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换肤体系、SDK、IP 联名</a:t>
            </a:r>
          </a:p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生成—使用—交易闭环</a:t>
            </a:r>
          </a:p>
          <a:p xmlns:a="http://schemas.openxmlformats.org/drawingml/2006/main">
            <a:pPr algn="l">
              <a:def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形成下一轮数据</a:t>
            </a:r>
          </a:p>
        </p:txBody>
      </p:sp>
    </p:spTree>
    <p:extLst>
      <p:ext uri="{BB962C8B-B14F-4D97-AF65-F5344CB8AC3E}">
        <p14:creationId xmlns:p14="http://schemas.microsoft.com/office/powerpoint/2010/main" val="13028152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433C0-238D-4E7A-86F8-E8C2F00F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FINANCIAL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CB766-6010-4563-8118-F2454072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7FF30-A068-47FF-AF28-FF5643DB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保守模型只计算订阅与皮肤，仍可形成千万元收入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25821-CAAC-438F-8548-1E68E5A2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未计入 AI 角色生成、技能包、市场抽成、企业客户和 IP 联名。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00050" y="2038350"/>
          <a:ext xmlns:a="http://schemas.openxmlformats.org/drawingml/2006/main" cx="69532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8bd1ae48fb470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6426F-A2EF-4B1B-9507-C2CE9943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003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1,068 万元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64595-8DA4-49F2-A0A8-CCDB16A9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第 3 年个人用户年度收入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53570-EC08-4B7D-9786-88829174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57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1,602 万元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1F9CD-AD67-411D-AE4F-2235FF9D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第 3 年期末个人 ARR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07CA2-ED0D-4A86-83FA-37500E39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口径：59 元/月模型订阅 + 30 元/月皮肤消费；按期初、期末用户均值计算。</a:t>
            </a:r>
          </a:p>
        </p:txBody>
      </p:sp>
    </p:spTree>
    <p:extLst>
      <p:ext uri="{BB962C8B-B14F-4D97-AF65-F5344CB8AC3E}">
        <p14:creationId xmlns:p14="http://schemas.microsoft.com/office/powerpoint/2010/main" val="18944131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25C5C-A340-49BE-B519-53E58776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FUNDING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DE1A7-9FED-491C-9F06-34015FA2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778C1-4AC6-4AD8-B46E-969FE830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本轮融资 500 万元，验证四项商业闭环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5185B-1D95-4886-9281-5BC1C499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资金周期 18 个月；目标不是继续堆功能，而是把已成型底座转化为可复制收入。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ECC1C-5457-42E9-858C-D83EE785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35623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ED358-A75E-465F-A32C-B7C29236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500 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5F34A-B73D-4E38-B986-3B9D9C54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融资额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C7B5F-12B9-4C5C-9F27-D02086C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09900"/>
            <a:ext cx="35623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D336C-B159-42F2-B5EF-FBBF9885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18 个月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8F820-9B71-43FB-8533-766BDA13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资金周期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26459-A3AF-42D3-AFD7-D36E084C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5623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9A181-3AC7-4616-A732-A64990FA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90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四项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6194F-EB88-4D01-AD95-A166D5BD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商业验证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B85A0-B4B1-4532-A7D2-2F8802E2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模型订阅 · 角色生成 · 官方内容 · 创作者市场</a:t>
            </a:r>
          </a:p>
        </p:txBody>
      </p:sp>
    </p:spTree>
    <p:extLst>
      <p:ext uri="{BB962C8B-B14F-4D97-AF65-F5344CB8AC3E}">
        <p14:creationId xmlns:p14="http://schemas.microsoft.com/office/powerpoint/2010/main" val="18752078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08003-6BF1-4A68-A00C-6226CE30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TIANSHU · INVESTMENT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8E953-0016-4499-AD87-C2F89A0D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下一代 Agent 不只替用户工作，</a:t>
            </a:r>
          </a:p>
          <a:p xmlns:a="http://schemas.openxmlformats.org/drawingml/2006/main">
            <a:pPr algn="l">
              <a:defRPr sz="3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也会成为用户愿意长期拥有、</a:t>
            </a:r>
          </a:p>
          <a:p xmlns:a="http://schemas.openxmlformats.org/drawingml/2006/main">
            <a:pPr algn="l">
              <a:defRPr sz="3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装扮和共同成长的数字角色。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409AB-0665-464E-B100-55F0F18B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免费工具获客 → 模型订阅 → 角色生成 → 用户交易 → 平台抽成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67344-A370-4639-81EE-8DFE6DC6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656F"/>
                </a:solidFill>
                <a:latin typeface="Microsoft YaHei"/>
                <a:ea typeface="Microsoft YaHei"/>
                <a:cs typeface="Microsoft YaHei"/>
              </a:rPr>
              <a:t>天枢 AI Agent · 融资商业计划书 · 机密资料</a:t>
            </a:r>
          </a:p>
        </p:txBody>
      </p:sp>
    </p:spTree>
    <p:extLst>
      <p:ext uri="{BB962C8B-B14F-4D97-AF65-F5344CB8AC3E}">
        <p14:creationId xmlns:p14="http://schemas.microsoft.com/office/powerpoint/2010/main" val="113657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2026-08-11T05:15:23.0270000Z</dcterms:created>
  <dcterms:modified xsi:type="dcterms:W3CDTF">2026-08-11T05:15:23.0270000Z</dcterms:modified>
</coreProperties>
</file>